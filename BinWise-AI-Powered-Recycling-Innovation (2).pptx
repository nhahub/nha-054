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Corben" panose="020B0604020202020204" charset="0"/>
      <p:regular r:id="rId22"/>
    </p:embeddedFont>
    <p:embeddedFont>
      <p:font typeface="Nobile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55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7677" y="1993821"/>
            <a:ext cx="7761446" cy="1402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BinWise: AI-Powered Recycling Innovation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177677" y="3766899"/>
            <a:ext cx="7761446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Welcome to the future of waste management. BinWise is a full-stack recycling platform leveraging cutting-edge AI to transform how we sort, classify, and value recyclable materials. This presentation dives into the core of our innovation: the AI Module.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572095"/>
            <a:ext cx="4519374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 &amp; Our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378625" y="1308973"/>
            <a:ext cx="11873032" cy="2738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world faces an escalating waste crisis, with global population growth driving waste generation to over 2 billion tons annually, a figure projected to rise significantly. Current recycling processes are plagued by inefficiency; manual sorting is labor-intensive, time-consuming, and prone to errors, leading to high contamination rates and low material recovery. Furthermore, complex sorting guidelines often deter individual consumers, resulting in low participation rates. There's a critical need for accessible, intuitive, and rewarding recycling solutions that integrate seamlessly into everyday life. BinWise directly addresses these challenges with an AI-powered smart recycling system. Our innovation leverages advanced automation and real-time feedback to simplify the user experience, while gamification through rewards incentivizes higher participation. The benefits are clear: increased recycling rates, significantly reduced contamination, improved resource recovery, and a substantial positive impact on environmental sustainability.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78625" y="4276130"/>
            <a:ext cx="2767727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Stakeholders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378625" y="4850368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Environmental Organizations &amp; NGOs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378625" y="5207913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Municipal Waste Management Authorities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378625" y="5565458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Waste Management &amp; Recycling Companies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8625" y="5923002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Individual Consumers &amp; Households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8625" y="6280547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Technology Partners &amp; AI Developers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8625" y="6638092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Government Agencies &amp; Policy Makers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78625" y="6995636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Educational Institutions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8625" y="7353181"/>
            <a:ext cx="11873032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1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Corporate Partners &amp; Brands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339447"/>
            <a:ext cx="3493294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Dataset Collection &amp; Distribution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378625" y="866775"/>
            <a:ext cx="11873032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dataset was manually collected with 7 material categories (Plastic, Glass, Wood, Iron/Metal, Paper, Cardboard, Textile). Each category contains multiple object classes, with 80 images labeled for each object class using Label Studio for precise annotation, resulting in a comprehensive and balanced dataset.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25" y="1499235"/>
            <a:ext cx="11873032" cy="6648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8625" y="8286869"/>
            <a:ext cx="11873032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Total: 75 object classes across 7 material categories, with 80 images per class = 6,000+ labeled images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78625" y="8718828"/>
            <a:ext cx="6734294" cy="483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Waste Material Value &amp; Point System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8625" y="9387959"/>
            <a:ext cx="11873032" cy="493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following table outlines the valuation and corresponding point calculation for different recyclable materials, serving as the foundation for the BinWise reward system.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8625" y="10020419"/>
            <a:ext cx="11873032" cy="2476262"/>
          </a:xfrm>
          <a:prstGeom prst="roundRect">
            <a:avLst>
              <a:gd name="adj" fmla="val 20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86245" y="10028039"/>
            <a:ext cx="11857792" cy="4101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10308" y="10109716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Plastic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7306" y="10109716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00493" y="10109716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0.16 €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93681" y="1010971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88060" y="1010971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166.66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82438" y="1010971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167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676817" y="10109716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25.05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86245" y="10438209"/>
            <a:ext cx="11857792" cy="4101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510308" y="10519886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Paper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07306" y="10519886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00493" y="10519886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0.05 €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93681" y="1051988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88060" y="1051988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53.33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982438" y="10519886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676817" y="10519886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7.95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386245" y="10848380"/>
            <a:ext cx="11857792" cy="4101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510308" y="10930057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Carton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7306" y="1093005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8g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00493" y="1093005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0.05 €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93681" y="1093005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88060" y="1093005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53.33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82438" y="1093005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1676817" y="10930057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7.95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1386245" y="11258550"/>
            <a:ext cx="11857792" cy="4101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510308" y="11340227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Glass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207306" y="1134022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3.5g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900493" y="1134022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0.02 €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593681" y="1134022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88060" y="1134022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23.33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982438" y="1134022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23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1676817" y="11340227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3.45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1386245" y="11668720"/>
            <a:ext cx="11857792" cy="4101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1510308" y="11750397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Clothes (Textile)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3207306" y="1175039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17.5g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4900493" y="11750397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0.11 €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593681" y="1175039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Mean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8288060" y="1175039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116.66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9982438" y="11750397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117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1676817" y="11750397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17.55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1386245" y="12078891"/>
            <a:ext cx="11857792" cy="4101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1510308" y="12160568"/>
            <a:ext cx="144268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Metals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3207306" y="12160568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43g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4900493" y="12160568"/>
            <a:ext cx="1438870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0.28 €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6593681" y="12160568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Median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8288060" y="12160568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286.66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9982438" y="12160568"/>
            <a:ext cx="144006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287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1676817" y="12160568"/>
            <a:ext cx="1443871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43.05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1378625" y="12635508"/>
            <a:ext cx="11873032" cy="24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detailed breakdown ensures transparency and fair compensation for users based on the market value and weight of their recycled contributions.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7773" y="1123593"/>
            <a:ext cx="7392114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AI Module: Core Predictive Engine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997773" y="2190393"/>
            <a:ext cx="3969306" cy="1761530"/>
          </a:xfrm>
          <a:prstGeom prst="roundRect">
            <a:avLst>
              <a:gd name="adj" fmla="val 622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997773" y="2167533"/>
            <a:ext cx="3969306" cy="91440"/>
          </a:xfrm>
          <a:prstGeom prst="roundRect">
            <a:avLst>
              <a:gd name="adj" fmla="val 83897"/>
            </a:avLst>
          </a:prstGeom>
          <a:solidFill>
            <a:srgbClr val="4967E9"/>
          </a:solidFill>
          <a:ln/>
        </p:spPr>
      </p:sp>
      <p:sp>
        <p:nvSpPr>
          <p:cNvPr id="6" name="Shape 3"/>
          <p:cNvSpPr/>
          <p:nvPr/>
        </p:nvSpPr>
        <p:spPr>
          <a:xfrm>
            <a:off x="7708463" y="1916430"/>
            <a:ext cx="547926" cy="547926"/>
          </a:xfrm>
          <a:prstGeom prst="roundRect">
            <a:avLst>
              <a:gd name="adj" fmla="val 166884"/>
            </a:avLst>
          </a:prstGeom>
          <a:solidFill>
            <a:srgbClr val="4967E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2889" y="2080736"/>
            <a:ext cx="219075" cy="219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3275" y="2646998"/>
            <a:ext cx="231909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Identification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03275" y="3015853"/>
            <a:ext cx="355830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Instantly recognize and categorize waste items.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149721" y="2190393"/>
            <a:ext cx="3969306" cy="1761530"/>
          </a:xfrm>
          <a:prstGeom prst="roundRect">
            <a:avLst>
              <a:gd name="adj" fmla="val 622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10149721" y="2167533"/>
            <a:ext cx="3969306" cy="91440"/>
          </a:xfrm>
          <a:prstGeom prst="roundRect">
            <a:avLst>
              <a:gd name="adj" fmla="val 83897"/>
            </a:avLst>
          </a:prstGeom>
          <a:solidFill>
            <a:srgbClr val="4967E9"/>
          </a:solidFill>
          <a:ln/>
        </p:spPr>
      </p:sp>
      <p:sp>
        <p:nvSpPr>
          <p:cNvPr id="12" name="Shape 8"/>
          <p:cNvSpPr/>
          <p:nvPr/>
        </p:nvSpPr>
        <p:spPr>
          <a:xfrm>
            <a:off x="11860411" y="1916430"/>
            <a:ext cx="547926" cy="547926"/>
          </a:xfrm>
          <a:prstGeom prst="roundRect">
            <a:avLst>
              <a:gd name="adj" fmla="val 166884"/>
            </a:avLst>
          </a:prstGeom>
          <a:solidFill>
            <a:srgbClr val="4967E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24836" y="2080736"/>
            <a:ext cx="219075" cy="2190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355223" y="2646998"/>
            <a:ext cx="207561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Weight Estimation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355223" y="3015853"/>
            <a:ext cx="3558302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Accurately quantify recyclable waste for reward calculation.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5997773" y="4408527"/>
            <a:ext cx="8121253" cy="1761530"/>
          </a:xfrm>
          <a:prstGeom prst="roundRect">
            <a:avLst>
              <a:gd name="adj" fmla="val 622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997773" y="4385667"/>
            <a:ext cx="8121253" cy="91440"/>
          </a:xfrm>
          <a:prstGeom prst="roundRect">
            <a:avLst>
              <a:gd name="adj" fmla="val 83897"/>
            </a:avLst>
          </a:prstGeom>
          <a:solidFill>
            <a:srgbClr val="4967E9"/>
          </a:solidFill>
          <a:ln/>
        </p:spPr>
      </p:sp>
      <p:sp>
        <p:nvSpPr>
          <p:cNvPr id="18" name="Shape 13"/>
          <p:cNvSpPr/>
          <p:nvPr/>
        </p:nvSpPr>
        <p:spPr>
          <a:xfrm>
            <a:off x="9784437" y="4134564"/>
            <a:ext cx="547926" cy="547926"/>
          </a:xfrm>
          <a:prstGeom prst="roundRect">
            <a:avLst>
              <a:gd name="adj" fmla="val 166884"/>
            </a:avLst>
          </a:prstGeom>
          <a:solidFill>
            <a:srgbClr val="4967E9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8862" y="4298871"/>
            <a:ext cx="219075" cy="2190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03275" y="4865132"/>
            <a:ext cx="2075617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Reward Automation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203275" y="5233988"/>
            <a:ext cx="771024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Seamlessly integrate with a reward-based system to incentivize proper disposal.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5997773" y="6375440"/>
            <a:ext cx="8121253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AI Module is the central intelligence of BinWise, processing user-uploaded images to deliver precise classification and quantification data.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373380"/>
            <a:ext cx="4254579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Module Objectives &amp;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8625" y="1098471"/>
            <a:ext cx="185142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Objectives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78625" y="1465540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Preparation: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Curate a 6,000+ image dataset across 55 object classes.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78625" y="2055971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Implementation: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Transition to YOLOv8 for robust multi-object detection.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78625" y="2646402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Weight Estimation: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Develop a deterministic system via lookup tables.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78625" y="3236833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Design &amp; Deployment: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Deploy a low-latency FastAPI service on HuggingFace Spaces.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78625" y="3827264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Achieve 70% accuracy, 0.65 precision, and &lt;2s API response time.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88317" y="1098471"/>
            <a:ext cx="1851422" cy="231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Team's Scope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88317" y="1465540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Computer Vision Pipeline: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Dataset creation, YOLOv8 training, object &amp; material classification.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88317" y="2055971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Logic Development: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Weight estimation and reward calculation framework.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88317" y="2646402"/>
            <a:ext cx="577084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&amp; API:</a:t>
            </a: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Setup FastAPI, Docker, HuggingFace, and API schema design.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317" y="3341965"/>
            <a:ext cx="5770840" cy="577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514231"/>
            <a:ext cx="8367593" cy="53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Functional Requirements of the AI Module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378625" y="1494234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 Detection: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Pinpoint and bound objects within images.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78625" y="2158008"/>
            <a:ext cx="570833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Classification: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Assign precise labels from 55 categories.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8625" y="2522577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Material Identification: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Infer material type (e.g., Plastic, Metal) from 7 categories.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78625" y="3186351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Multi-Object Handling: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Process images with multiple items, returning all detections.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78625" y="3850124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Weight Estimation: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Calculate weight in grams using a lookup table.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8625" y="4513898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Calculation: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Apply formula for reward points based on material and weight.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78625" y="5177671"/>
            <a:ext cx="5708333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API Output:</a:t>
            </a: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Deliver structured JSON with all prediction details.</a:t>
            </a:r>
            <a:endParaRPr lang="en-US" sz="14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825" y="1536383"/>
            <a:ext cx="5708333" cy="570833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8625" y="7665482"/>
            <a:ext cx="11873032" cy="747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AI Module is engineered to perform a comprehensive set of functions, from visual detection to precise data output for backend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340" y="794504"/>
            <a:ext cx="7889319" cy="1273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Non-Functional Requirements &amp; Use Case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7340" y="2627471"/>
            <a:ext cx="3671411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7340" y="3615095"/>
            <a:ext cx="3671411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API response &lt; 2 seconds for a smooth user experience.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7340" y="4768929"/>
            <a:ext cx="3671411" cy="1075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Reliability: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70% minimum accuracy and robust concurrency handling.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7340" y="5922764"/>
            <a:ext cx="3671411" cy="143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Scalability: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Docker and HuggingFace Spaces deployment for automatic load scaling.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2868" y="2627471"/>
            <a:ext cx="3671411" cy="763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Waste Scanning &amp; Classification Use Case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852868" y="3615095"/>
            <a:ext cx="3671411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Actor: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2868" y="4175165"/>
            <a:ext cx="3671411" cy="2509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Scenario: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User uploads an image of waste. The FastAPI API processes it via YOLOv8 inference, returning prediction results (Label, Weight, Points) to the backend for display on the user dashboard.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354925"/>
            <a:ext cx="8939213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Module Software Architecture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1378625" y="1346478"/>
            <a:ext cx="1187303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25" y="1698069"/>
            <a:ext cx="11873032" cy="66911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59462" y="2277848"/>
            <a:ext cx="2199049" cy="299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 (Client)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59462" y="2670431"/>
            <a:ext cx="2199049" cy="5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Sends image bytes via REST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783174" y="2277848"/>
            <a:ext cx="2187352" cy="299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FastAPI Server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83174" y="2670431"/>
            <a:ext cx="2187352" cy="78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Receives POST, exposes REST endpoints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741525" y="6868216"/>
            <a:ext cx="2117169" cy="299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YOLOv8 Engine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41525" y="7260798"/>
            <a:ext cx="2117169" cy="5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Runs inference on image bytes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0712993" y="6569209"/>
            <a:ext cx="2257534" cy="59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Weight Estimation Logic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12993" y="7260798"/>
            <a:ext cx="2257534" cy="5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Computes weight from detections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78625" y="8534400"/>
            <a:ext cx="11873032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AI Module operates as a microservice, decoupling compute-intensive computer vision tasks from the main backend. This ensures robust performance and scalability.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312" y="747236"/>
            <a:ext cx="5868472" cy="598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Deployment &amp; Monitoring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90312" y="1873091"/>
            <a:ext cx="3724513" cy="71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Version Control &amp; Deployment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90312" y="2802493"/>
            <a:ext cx="3724513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Version Control: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GitHub repository with Feature Branching Strategy for stable code management.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90312" y="4225409"/>
            <a:ext cx="3724513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Containerization: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Dockerfile builds production-ready images for FastAPI/Uvicorn.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90312" y="5311021"/>
            <a:ext cx="3724513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Platform: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Automated deployment on HuggingFace Spaces for live service.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836795" y="1873091"/>
            <a:ext cx="3724513" cy="71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Monitoring &amp; Maintenance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4836795" y="2802493"/>
            <a:ext cx="3724513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 Checks: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API root endpoint provides real-time model status.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36795" y="3888105"/>
            <a:ext cx="3724513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KPI Monitoring: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Track response time and error rates; alerts for deviations.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836795" y="4973717"/>
            <a:ext cx="3724513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Performance Drift: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Monitor confidence scores to signal retraining needs.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836795" y="6059329"/>
            <a:ext cx="3724513" cy="1349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Maintenance:</a:t>
            </a: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Regular software updates and scheduled model retraining based on drift or new waste types.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7296" y="572929"/>
            <a:ext cx="8041719" cy="508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Performance Indicators for AI Success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987296" y="1438751"/>
            <a:ext cx="256496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70%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253282" y="2252543"/>
            <a:ext cx="2032992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87296" y="2614017"/>
            <a:ext cx="2564963" cy="107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Achieved target accuracy for reliable waste classification.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775859" y="1438751"/>
            <a:ext cx="256496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&lt; 2s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9041844" y="2252543"/>
            <a:ext cx="2032992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 Response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75859" y="2614017"/>
            <a:ext cx="2564963" cy="1430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Ensured low-latency inference for a seamless user experience.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64422" y="1438751"/>
            <a:ext cx="256496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&lt; 6s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11830407" y="2252543"/>
            <a:ext cx="2032992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Load Time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64422" y="2614017"/>
            <a:ext cx="2564963" cy="107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Guaranteed quick startup for API readiness.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775859" y="4491871"/>
            <a:ext cx="2564963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0.5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9034939" y="5305663"/>
            <a:ext cx="204680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Detection Confidence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75859" y="5667137"/>
            <a:ext cx="2564963" cy="1072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a threshold to filter unreliable predictions.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987296" y="6941344"/>
            <a:ext cx="8142208" cy="715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KPIs ensure the AI module is not only functional but performs efficiently and reliably under real-world conditions.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595789"/>
            <a:ext cx="9029700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 Performance Evaluation Metrics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625" y="1779984"/>
            <a:ext cx="3563898" cy="24422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8625" y="4465915"/>
            <a:ext cx="3563898" cy="260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F1 score of 0.70 achieved at confidence threshold 0.361. Shows optimal balance between precision and recall across all 55 object classes.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780" y="1779984"/>
            <a:ext cx="3687842" cy="2554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8780" y="4577953"/>
            <a:ext cx="3687842" cy="2600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 precision of 0.69, reaching 0.98 at maximum confidence. Higher thresholds ensure more reliable predictions but may miss some detections.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2879" y="1779984"/>
            <a:ext cx="3563898" cy="2468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02879" y="4492228"/>
            <a:ext cx="3563898" cy="303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Recall of 0.94 at zero confidence threshold, detecting 94% of actual objects. Recall decreases as confidence increases, reflecting the detection trade-off.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4828" y="515422"/>
            <a:ext cx="4260413" cy="53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Challenges</a:t>
            </a:r>
            <a:endParaRPr lang="en-US" sz="3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8" y="1328976"/>
            <a:ext cx="937260" cy="15030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9492" y="1516380"/>
            <a:ext cx="2130147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Imbalanced Dataset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649492" y="1894999"/>
            <a:ext cx="6969681" cy="74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Mitigated with data augmentation (oversampling, class weighting) to ensure model fairness across 55 object classes.</a:t>
            </a:r>
            <a:endParaRPr lang="en-US" sz="1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28" y="2832021"/>
            <a:ext cx="937260" cy="15030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9492" y="3019425"/>
            <a:ext cx="2380536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Long Training Duration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649492" y="3398044"/>
            <a:ext cx="6969681" cy="74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Optimized pipelines and leveraged Google Colab for cloud GPU access, reducing 14-hour training times.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8" y="4335066"/>
            <a:ext cx="937260" cy="187785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9492" y="4522470"/>
            <a:ext cx="2238018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Hardware Limitations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649492" y="4901089"/>
            <a:ext cx="6969681" cy="112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Accepted lower batch sizes; prepared to switch to lighter YOLO models (e.g., YOLOv8n) if resource constraints escalated.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828" y="6212919"/>
            <a:ext cx="937260" cy="150304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49492" y="6400324"/>
            <a:ext cx="2130147" cy="266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Multi-Object Failure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649492" y="6778943"/>
            <a:ext cx="6969681" cy="749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Replaced MobileNetV2 with YOLOv8 for native multi-object detection and accurate bounding box returns.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818793"/>
            <a:ext cx="61448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Planning Phase Duration (Weeks)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1378625" y="1491972"/>
            <a:ext cx="11873032" cy="5918835"/>
          </a:xfrm>
          <a:prstGeom prst="roundRect">
            <a:avLst>
              <a:gd name="adj" fmla="val 98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6245" y="1499592"/>
            <a:ext cx="11857792" cy="4043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25667" y="1590556"/>
            <a:ext cx="2089547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Phase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00964" y="1590556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Duration (Weeks)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79519" y="1590556"/>
            <a:ext cx="564308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Activities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608356" y="1590556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86245" y="1903928"/>
            <a:ext cx="11857792" cy="6267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25667" y="1994892"/>
            <a:ext cx="20895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Acquisition &amp; Preprocessing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00964" y="1994892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1–3 weeks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79519" y="1994892"/>
            <a:ext cx="564308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collection of 6,000 images; Annotation using Label Studio; Data augmentation strategy; Initial dataset split (Train/Validation/Test)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608356" y="1994892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386245" y="2530673"/>
            <a:ext cx="11857792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25667" y="2621637"/>
            <a:ext cx="20895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Selection &amp; Training 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00964" y="2621637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4–6 weeks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79519" y="2621637"/>
            <a:ext cx="564308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Finalize transition from MobileNetV2 to YOLOv8; Define the 55 object classes and 7 material categories; Set up training environment (Google Colab/Cloud GPU); Establish baseline hyperparameters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608356" y="2621637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86245" y="3379827"/>
            <a:ext cx="11857792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25667" y="3470791"/>
            <a:ext cx="20895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Core Model Training &amp; Optimization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00964" y="3470791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7–9 weeks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79519" y="3470791"/>
            <a:ext cx="564308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Execute YOLOv8 training for 50 epochs (14 hours); Apply mitigation strategies (oversampling, class weighting); Hyperparameter tuning; Final model selection based on 70% Accuracy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08356" y="3470791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386245" y="4228981"/>
            <a:ext cx="11857792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25667" y="4319945"/>
            <a:ext cx="20895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Weight Logic &amp; API Development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900964" y="4319945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10–11 weeks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79519" y="4319945"/>
            <a:ext cx="564308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 deterministic Weight Estimation Lookup Tables; Design the Reward Calculation Framework; Develop the FastAPI inference service (/detect/ endpoint); Implement lifespan model loading logic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08356" y="4319945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386245" y="5078135"/>
            <a:ext cx="11857792" cy="8491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25667" y="5169098"/>
            <a:ext cx="2089547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Containerization &amp; Deployment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00964" y="5169098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12–13 weeks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9519" y="5169098"/>
            <a:ext cx="564308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 Docker container image (FastAPI, Python environment, YOLOv8 model); Test container locally; Deploy the service to HuggingFace Spaces; Test the live API response time (Target &lt; 2 seconds)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608356" y="5169098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386245" y="5927288"/>
            <a:ext cx="11857792" cy="8491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525667" y="6018252"/>
            <a:ext cx="2089547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Testing &amp; Quality Assurance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00964" y="6018252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14–15 weeks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79519" y="6018252"/>
            <a:ext cx="5643086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Execute comprehensive Test Cases (Classification, Multi-object, Weight Consistency, Confidence Threshold); Final validation of KPIs (Precision 0.65, Recall 0.70); Conduct final integration tests with the Backend team's JSON parsing logic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608356" y="6018252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386245" y="6776442"/>
            <a:ext cx="11857792" cy="6267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525667" y="6867406"/>
            <a:ext cx="2089547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Documentation &amp; Finalization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900964" y="6867406"/>
            <a:ext cx="149280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16 weeks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79519" y="6867406"/>
            <a:ext cx="5643086" cy="444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Finalize academic documentation; Prepare Project Presentation; Submit all code, models, and documentation to the Version Control Repository (GitHub)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608356" y="6867406"/>
            <a:ext cx="1496616" cy="222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Complete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557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8625" y="3194090"/>
            <a:ext cx="8492371" cy="558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Technical Documentation &amp; Deliverables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1378625" y="4046815"/>
            <a:ext cx="3826669" cy="2437567"/>
          </a:xfrm>
          <a:prstGeom prst="roundRect">
            <a:avLst>
              <a:gd name="adj" fmla="val 4502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55765" y="4046815"/>
            <a:ext cx="91440" cy="2437567"/>
          </a:xfrm>
          <a:prstGeom prst="roundRect">
            <a:avLst>
              <a:gd name="adj" fmla="val 90242"/>
            </a:avLst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1666518" y="4266128"/>
            <a:ext cx="2462093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Source Code Repository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666518" y="4662964"/>
            <a:ext cx="3319462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GitHub link for transparency and collaborative development.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01747" y="4046815"/>
            <a:ext cx="3826669" cy="2437567"/>
          </a:xfrm>
          <a:prstGeom prst="roundRect">
            <a:avLst>
              <a:gd name="adj" fmla="val 4502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8887" y="4046815"/>
            <a:ext cx="91440" cy="2437567"/>
          </a:xfrm>
          <a:prstGeom prst="roundRect">
            <a:avLst>
              <a:gd name="adj" fmla="val 90242"/>
            </a:avLst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5689640" y="4266128"/>
            <a:ext cx="223254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 Documentation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689640" y="4662964"/>
            <a:ext cx="3319462" cy="1602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guide for the </a:t>
            </a:r>
            <a:r>
              <a:rPr lang="en-US" sz="1900" dirty="0">
                <a:solidFill>
                  <a:srgbClr val="404155"/>
                </a:solidFill>
                <a:highlight>
                  <a:srgbClr val="ECEC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/detect/</a:t>
            </a:r>
            <a:r>
              <a:rPr lang="en-US" sz="1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endpoint, detailing request/response schemas.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9424868" y="4046815"/>
            <a:ext cx="3826669" cy="2437567"/>
          </a:xfrm>
          <a:prstGeom prst="roundRect">
            <a:avLst>
              <a:gd name="adj" fmla="val 4502"/>
            </a:avLst>
          </a:prstGeom>
          <a:solidFill>
            <a:srgbClr val="F9F9FF">
              <a:alpha val="95000"/>
            </a:srgbClr>
          </a:solidFill>
          <a:ln w="22860">
            <a:solidFill>
              <a:srgbClr val="B8BF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402008" y="4046815"/>
            <a:ext cx="91440" cy="2437567"/>
          </a:xfrm>
          <a:prstGeom prst="roundRect">
            <a:avLst>
              <a:gd name="adj" fmla="val 90242"/>
            </a:avLst>
          </a:prstGeom>
          <a:solidFill>
            <a:srgbClr val="4967E9"/>
          </a:solidFill>
          <a:ln/>
        </p:spPr>
      </p:sp>
      <p:sp>
        <p:nvSpPr>
          <p:cNvPr id="14" name="Text 11"/>
          <p:cNvSpPr/>
          <p:nvPr/>
        </p:nvSpPr>
        <p:spPr>
          <a:xfrm>
            <a:off x="9712762" y="4266128"/>
            <a:ext cx="223254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Deployment Link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712762" y="4662964"/>
            <a:ext cx="3319462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Direct access to the live, executable service on HuggingFace Spaces.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378625" y="6705362"/>
            <a:ext cx="11873032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deliverables ensure our AI Module is well-documented, accessible, and ready for integration and future enhancements.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8625" y="3764042"/>
            <a:ext cx="5611058" cy="70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</Words>
  <Application>Microsoft Office PowerPoint</Application>
  <PresentationFormat>Custom</PresentationFormat>
  <Paragraphs>200</Paragraphs>
  <Slides>15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Nobile</vt:lpstr>
      <vt:lpstr>Consolas</vt:lpstr>
      <vt:lpstr>Corben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 lak</cp:lastModifiedBy>
  <cp:revision>2</cp:revision>
  <dcterms:created xsi:type="dcterms:W3CDTF">2025-12-10T22:22:33Z</dcterms:created>
  <dcterms:modified xsi:type="dcterms:W3CDTF">2025-12-10T22:24:43Z</dcterms:modified>
</cp:coreProperties>
</file>